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90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658368"/>
            <a:ext cx="10515600" cy="32004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《人工智能在学习环境中的应用与实践》 · 16周产出导向课程 · 理论＋实践（2学时）</a:t>
            </a:r>
            <a:endParaRPr sz="1300" b="1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22960" y="1143000"/>
            <a:ext cx="7863840" cy="192024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Python 速成（AI 结对编程模式）</a:t>
            </a:r>
            <a:endParaRPr sz="40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2880360"/>
            <a:ext cx="7680960" cy="4572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够用的语法 · AI 结对编程 · 文件处理实战 · 第一次调试</a:t>
            </a:r>
            <a:endParaRPr sz="17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3611880"/>
            <a:ext cx="2368296" cy="402336"/>
          </a:xfrm>
          <a:prstGeom prst="roundRect">
            <a:avLst>
              <a:gd name="adj" fmla="val 6000"/>
            </a:avLst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第 3 周 / 共 16 周</a:t>
            </a:r>
            <a:endParaRPr sz="12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419856" y="3611880"/>
            <a:ext cx="2510028" cy="402336"/>
          </a:xfrm>
          <a:prstGeom prst="roundRect">
            <a:avLst>
              <a:gd name="adj" fmla="val 6000"/>
            </a:avLst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周一 第5–6节 · 4412</a:t>
            </a:r>
            <a:endParaRPr sz="1200" b="1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58483" y="3611880"/>
            <a:ext cx="4352544" cy="402336"/>
          </a:xfrm>
          <a:prstGeom prst="roundRect">
            <a:avLst>
              <a:gd name="adj" fmla="val 6000"/>
            </a:avLst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10972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自带笔记本 · VS Code + Python 已就绪</a:t>
            </a:r>
            <a:endParaRPr sz="1200" b="1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89720" y="822325"/>
            <a:ext cx="2194560" cy="566928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变量：给数据起名字</a:t>
            </a:r>
            <a:endParaRPr sz="12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189720" y="1566037"/>
            <a:ext cx="2194560" cy="566928"/>
          </a:xfrm>
          <a:prstGeom prst="roundRect">
            <a:avLst>
              <a:gd name="adj" fmla="val 6000"/>
            </a:avLst>
          </a:prstGeom>
          <a:solidFill>
            <a:srgbClr val="E9EDF3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if：按条件挑出想要的</a:t>
            </a:r>
            <a:endParaRPr sz="12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189720" y="2258949"/>
            <a:ext cx="2194560" cy="566928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for：一个个过一遍</a:t>
            </a:r>
            <a:endParaRPr sz="12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189720" y="2971545"/>
            <a:ext cx="2194560" cy="566928"/>
          </a:xfrm>
          <a:prstGeom prst="roundRect">
            <a:avLst>
              <a:gd name="adj" fmla="val 6000"/>
            </a:avLst>
          </a:prstGeom>
          <a:solidFill>
            <a:srgbClr val="E9EDF3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def：打包动作可复用</a:t>
            </a:r>
            <a:endParaRPr sz="12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189720" y="4087368"/>
            <a:ext cx="2194560" cy="4572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本周只学“够用的”4 个语法点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0" tIns="54864" rIns="109728" bIns="54864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DC3E6"/>
                </a:solidFill>
                <a:latin typeface="微软雅黑" panose="020B0503020204020204" charset="-122"/>
                <a:ea typeface="微软雅黑" panose="020B0503020204020204" charset="-122"/>
              </a:rPr>
              <a:t>今日离场交付　</a:t>
            </a: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vocab_tool.py（生词表 CSV → 自动生成练习题）　+　AI 辅助编程实录.md　+　生成的 练习.txt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347472"/>
            <a:ext cx="1088136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起 · 上周回顾</a:t>
            </a:r>
            <a:endParaRPr sz="1100" b="1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13232" y="603504"/>
            <a:ext cx="10881360" cy="566928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上周你攒下了 6 个提示词模板，本周让它们自动干活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83112" cy="14630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6547104"/>
            <a:ext cx="822960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《人工智能在学习环境中的应用与实践》· 第3周 · Python速成（AI结对编程）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0515600" y="6547104"/>
            <a:ext cx="118872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02 / 15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572768"/>
            <a:ext cx="5440680" cy="192024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109728" bIns="54864" rtlCol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上周做了什么</a:t>
            </a:r>
            <a:endParaRPr sz="1600" b="1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把每次“人肉复制粘贴”的思路，沉淀成 6 个可复用的提示词模板（.md），并 push 进仓库。</a:t>
            </a:r>
            <a:endParaRPr sz="125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45352" y="1572768"/>
            <a:ext cx="5440680" cy="1920240"/>
          </a:xfrm>
          <a:prstGeom prst="roundRect">
            <a:avLst>
              <a:gd name="adj" fmla="val 6000"/>
            </a:avLst>
          </a:prstGeom>
          <a:solidFill>
            <a:srgbClr val="E2F0D9"/>
          </a:solidFill>
          <a:ln w="12700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28016" rIns="109728" bIns="54864" rtlCol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538135"/>
                </a:solidFill>
                <a:latin typeface="微软雅黑" panose="020B0503020204020204" charset="-122"/>
                <a:ea typeface="微软雅黑" panose="020B0503020204020204" charset="-122"/>
              </a:rPr>
              <a:t>本周升级为什么</a:t>
            </a:r>
            <a:endParaRPr sz="1600" b="1">
              <a:solidFill>
                <a:srgbClr val="53813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把提示词模板“接上代码”：读一份 1000 词的生词表，脚本一次跑完挑词、统计、出题三件事。</a:t>
            </a:r>
            <a:endParaRPr sz="125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3703320"/>
            <a:ext cx="11183112" cy="6858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4864" rIns="109728" bIns="54864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9DC3E6"/>
                </a:solidFill>
                <a:latin typeface="微软雅黑" panose="020B0503020204020204" charset="-122"/>
                <a:ea typeface="微软雅黑" panose="020B0503020204020204" charset="-122"/>
              </a:rPr>
              <a:t>核心观点：</a:t>
            </a: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提示词是“文案资产”，脚本是“自动化资产”——写一次，以后每周都能复用。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4617720"/>
            <a:ext cx="35661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09728" bIns="54864" rtlCol="0" anchor="t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为什么现在学 Python？</a:t>
            </a:r>
            <a:endParaRPr sz="1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W4 起就要调 API、做RAG、写智能体，脚本是它们的地基；本周不学完一本教材，只学“够用的”。</a:t>
            </a:r>
            <a:endParaRPr sz="12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325112" y="4617720"/>
            <a:ext cx="35661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09728" bIns="54864" rtlCol="0" anchor="t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AI 结对编程是什么？</a:t>
            </a:r>
            <a:endParaRPr sz="1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你负责说清需求与把关，AI 负责写初稿——但你必须能讲清楚每一行。</a:t>
            </a:r>
            <a:endParaRPr sz="12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147304" y="4617720"/>
            <a:ext cx="35661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09728" bIns="54864" rtlCol="0" anchor="t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怕写代码怎么办？</a:t>
            </a:r>
            <a:endParaRPr sz="1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本周只有 4 个语法点，全部配学科微示例；报错先自己读 30 秒，读不懂再问。</a:t>
            </a:r>
            <a:endParaRPr sz="12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347472"/>
            <a:ext cx="1088136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产出导向 · 本周目标</a:t>
            </a:r>
            <a:endParaRPr sz="1100" b="1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13232" y="603504"/>
            <a:ext cx="10881360" cy="566928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今天下课时，你将交出一个能真的跑起来的脚本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83112" cy="14630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6547104"/>
            <a:ext cx="822960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《人工智能在学习环境中的应用与实践》· 第3周 · Python速成（AI结对编程）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0515600" y="6547104"/>
            <a:ext cx="118872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03 / 15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5394960" cy="1060704"/>
          </a:xfrm>
          <a:prstGeom prst="roundRect">
            <a:avLst>
              <a:gd name="adj" fmla="val 6000"/>
            </a:avLst>
          </a:prstGeom>
          <a:solidFill>
            <a:srgbClr val="E2F0D9"/>
          </a:solidFill>
          <a:ln w="15240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91440" rIns="109728" bIns="54864" rtlCol="0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538135"/>
                </a:solidFill>
                <a:latin typeface="微软雅黑" panose="020B0503020204020204" charset="-122"/>
                <a:ea typeface="微软雅黑" panose="020B0503020204020204" charset="-122"/>
              </a:rPr>
              <a:t>交付物 1　</a:t>
            </a:r>
            <a:r>
              <a:rPr sz="14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vocab_tool.py</a:t>
            </a:r>
            <a:endParaRPr sz="14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独立运行的 Python 脚本：读生词表 CSV → 按等级筛选 → 统计词性 → 输出练习题文件。</a:t>
            </a:r>
            <a:endParaRPr sz="12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2761488"/>
            <a:ext cx="5394960" cy="1060704"/>
          </a:xfrm>
          <a:prstGeom prst="roundRect">
            <a:avLst>
              <a:gd name="adj" fmla="val 6000"/>
            </a:avLst>
          </a:prstGeom>
          <a:solidFill>
            <a:srgbClr val="E2F0D9"/>
          </a:solidFill>
          <a:ln w="15240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91440" rIns="109728" bIns="54864" rtlCol="0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538135"/>
                </a:solidFill>
                <a:latin typeface="微软雅黑" panose="020B0503020204020204" charset="-122"/>
                <a:ea typeface="微软雅黑" panose="020B0503020204020204" charset="-122"/>
              </a:rPr>
              <a:t>交付物 2　</a:t>
            </a:r>
            <a:r>
              <a:rPr sz="14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练习.txt（脚本产出）</a:t>
            </a:r>
            <a:endParaRPr sz="14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脚本生成的结果文件，如“用‘坚持’造一个句子。（动词）”，可直接用于课堂练习。</a:t>
            </a:r>
            <a:endParaRPr sz="12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3968496"/>
            <a:ext cx="5394960" cy="1060704"/>
          </a:xfrm>
          <a:prstGeom prst="roundRect">
            <a:avLst>
              <a:gd name="adj" fmla="val 6000"/>
            </a:avLst>
          </a:prstGeom>
          <a:solidFill>
            <a:srgbClr val="E2F0D9"/>
          </a:solidFill>
          <a:ln w="15240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91440" rIns="109728" bIns="54864" rtlCol="0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538135"/>
                </a:solidFill>
                <a:latin typeface="微软雅黑" panose="020B0503020204020204" charset="-122"/>
                <a:ea typeface="微软雅黑" panose="020B0503020204020204" charset="-122"/>
              </a:rPr>
              <a:t>交付物 3　</a:t>
            </a:r>
            <a:r>
              <a:rPr sz="14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AI 辅助编程实录.md</a:t>
            </a:r>
            <a:endParaRPr sz="14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记录：你的提示词 → AI 初版代码 → 你的修改点 → 最终版差异说明。</a:t>
            </a:r>
            <a:endParaRPr sz="12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72200" y="1554480"/>
            <a:ext cx="5513832" cy="4224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Ins="109728" bIns="54864" rtlCol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90 分钟课堂时间轴</a:t>
            </a:r>
            <a:endParaRPr sz="1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学时 1（0–45′）够用的 Python　</a:t>
            </a: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语法＋调试＋结对编程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　5′ 回顾导入　→　15′ 四个语法点（变量/if/for/函数）</a:t>
            </a:r>
            <a:endParaRPr sz="12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　10′ AI 结对编程模式与三条纪律　→　15′ 调试第一课：读 Traceback</a:t>
            </a:r>
            <a:endParaRPr sz="12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学时 2（45–90′）CSV 处理实战　</a:t>
            </a: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做出来并入库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　10′ 任务拆解：CSV → 练习题（看数据、看预期输出）</a:t>
            </a:r>
            <a:endParaRPr sz="12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　20′ 逐行读懂 vocab_tool.py　→　15′ 跑通并写实录</a:t>
            </a:r>
            <a:endParaRPr sz="12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　5′ Git 提交 ＋ 离场验收 checklist</a:t>
            </a:r>
            <a:endParaRPr sz="12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F8F00"/>
                </a:solidFill>
                <a:latin typeface="微软雅黑" panose="020B0503020204020204" charset="-122"/>
                <a:ea typeface="微软雅黑" panose="020B0503020204020204" charset="-122"/>
              </a:rPr>
              <a:t>环境提示：仅用 Python 标准库（csv / 文件读写），无需装任何新包；样例 CSV 在代码包 data/ 下。</a:t>
            </a:r>
            <a:endParaRPr sz="1200" b="1">
              <a:solidFill>
                <a:srgbClr val="BF8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" y="5257800"/>
            <a:ext cx="5394960" cy="521207"/>
          </a:xfrm>
          <a:prstGeom prst="roundRect">
            <a:avLst>
              <a:gd name="adj" fmla="val 6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54864" rIns="109728" bIns="54864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BF8F00"/>
                </a:solidFill>
                <a:latin typeface="微软雅黑" panose="020B0503020204020204" charset="-122"/>
                <a:ea typeface="微软雅黑" panose="020B0503020204020204" charset="-122"/>
              </a:rPr>
              <a:t>本周不考写代码：</a:t>
            </a:r>
            <a:r>
              <a:rPr sz="125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考你能不能读懂、改懂、跑通——所以“逐行读懂”比“写得快”重要。</a:t>
            </a:r>
            <a:endParaRPr sz="125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3657600" cy="109728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9DC3E6"/>
                </a:solidFill>
                <a:latin typeface="Arial" panose="020B0604020202020204"/>
                <a:ea typeface="微软雅黑" panose="020B0503020204020204" charset="-122"/>
              </a:rPr>
              <a:t>Part 1</a:t>
            </a:r>
            <a:endParaRPr sz="4000" b="1">
              <a:solidFill>
                <a:srgbClr val="9DC3E6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22960" y="2788920"/>
            <a:ext cx="10515600" cy="9144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学时 1（45′）：只学“够用的” Python</a:t>
            </a:r>
            <a:endParaRPr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68680" y="3886200"/>
            <a:ext cx="10058400" cy="7315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t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DC3E6"/>
                </a:solidFill>
                <a:latin typeface="微软雅黑" panose="020B0503020204020204" charset="-122"/>
                <a:ea typeface="微软雅黑" panose="020B0503020204020204" charset="-122"/>
              </a:rPr>
              <a:t>四个语法点 · AI 结对编程模式 · 调试第一课</a:t>
            </a:r>
            <a:endParaRPr sz="1500" b="0">
              <a:solidFill>
                <a:srgbClr val="9DC3E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68680" y="4892040"/>
            <a:ext cx="10058400" cy="640080"/>
          </a:xfrm>
          <a:prstGeom prst="roundRect">
            <a:avLst>
              <a:gd name="adj" fmla="val 6000"/>
            </a:avLst>
          </a:prstGeom>
          <a:solidFill>
            <a:srgbClr val="2A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09728" bIns="54864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三条纪律：不粘贴读不懂的代码；先猜输出再运行；报错先自己读 30 秒。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6547104"/>
            <a:ext cx="822960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《人工智能在学习环境中的应用与实践》· 第3周 · Python速成（AI结对编程）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515600" y="6547104"/>
            <a:ext cx="118872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04 / 15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347472"/>
            <a:ext cx="1088136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承 · 语法速成</a:t>
            </a:r>
            <a:endParaRPr sz="1100" b="1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13232" y="603504"/>
            <a:ext cx="10881360" cy="566928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四个语法点，每个配一个学科场景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83112" cy="14630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6547104"/>
            <a:ext cx="822960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《人工智能在学习环境中的应用与实践》· 第3周 · Python速成（AI结对编程）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0515600" y="6547104"/>
            <a:ext cx="118872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05 / 15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572768"/>
            <a:ext cx="5422392" cy="19019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72768"/>
            <a:ext cx="5422392" cy="5303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09728" bIns="54864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① 变量　</a:t>
            </a: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给数据起个名字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9224" y="2194560"/>
            <a:ext cx="5120640" cy="658368"/>
          </a:xfrm>
          <a:prstGeom prst="roundRect">
            <a:avLst>
              <a:gd name="adj" fmla="val 6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09728" bIns="54864" rtlCol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words = load_words(...)</a:t>
            </a:r>
            <a:endParaRPr sz="1200" b="0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9224" y="2926080"/>
            <a:ext cx="5120640" cy="4572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109728" bIns="54864" rtlCol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整份生词表（1000行）存进一个变量 words，后面反复用它。</a:t>
            </a:r>
            <a:endParaRPr sz="12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63640" y="1572768"/>
            <a:ext cx="5422392" cy="19019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572768"/>
            <a:ext cx="5422392" cy="530352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09728" bIns="54864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② 条件 if　</a:t>
            </a: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按条件挑出想要的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9944" y="2194560"/>
            <a:ext cx="5120640" cy="658368"/>
          </a:xfrm>
          <a:prstGeom prst="roundRect">
            <a:avLst>
              <a:gd name="adj" fmla="val 6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09728" bIns="54864" rtlCol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if w["HSK等级"] == "4": 留下</a:t>
            </a:r>
            <a:endParaRPr sz="1200" b="0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9944" y="2926080"/>
            <a:ext cx="5120640" cy="4572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109728" bIns="54864" rtlCol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从生词表里只挑 HSK4 的词——这就是“筛选”。</a:t>
            </a:r>
            <a:endParaRPr sz="12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3630168"/>
            <a:ext cx="5422392" cy="19019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630168"/>
            <a:ext cx="5422392" cy="530352"/>
          </a:xfrm>
          <a:prstGeom prst="rect">
            <a:avLst/>
          </a:prstGeom>
          <a:solidFill>
            <a:srgbClr val="538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09728" bIns="54864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③ 循环 for　</a:t>
            </a: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一个个过一遍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9224" y="4251959"/>
            <a:ext cx="5120640" cy="658368"/>
          </a:xfrm>
          <a:prstGeom prst="roundRect">
            <a:avLst>
              <a:gd name="adj" fmla="val 6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09728" bIns="54864" rtlCol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for w in words:
    print(w["词汇"])</a:t>
            </a:r>
            <a:endParaRPr sz="1200" b="0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9224" y="4983479"/>
            <a:ext cx="5120640" cy="4572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109728" bIns="54864" rtlCol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给表里的每个生词都生成一句话练习题。</a:t>
            </a:r>
            <a:endParaRPr sz="12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63640" y="3630168"/>
            <a:ext cx="5422392" cy="19019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630168"/>
            <a:ext cx="5422392" cy="53035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09728" bIns="54864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④ 函数 def　</a:t>
            </a:r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把动作打包复用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409944" y="4251959"/>
            <a:ext cx="5120640" cy="658368"/>
          </a:xfrm>
          <a:prstGeom prst="roundRect">
            <a:avLst>
              <a:gd name="adj" fmla="val 6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09728" bIns="54864" rtlCol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def filter_by_level(words, level):
    return [...]</a:t>
            </a:r>
            <a:endParaRPr sz="1200" b="0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409944" y="4983479"/>
            <a:ext cx="5120640" cy="4572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109728" bIns="54864" rtlCol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换等级只用改参数，不用重抄一遍过滤逻辑。</a:t>
            </a:r>
            <a:endParaRPr sz="12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02920" y="5742432"/>
            <a:ext cx="11183112" cy="54864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4864" rIns="109728" bIns="54864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随堂小练（2′）：</a:t>
            </a:r>
            <a:r>
              <a:rPr sz="13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先猜后跑——屏幕这段会输出几个词？for w in words: if w["词性"]=="动词": print(w["词汇"])　猜完再 Run，看谁猜得准。</a:t>
            </a:r>
            <a:endParaRPr sz="13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347472"/>
            <a:ext cx="1088136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承 · 方法建立</a:t>
            </a:r>
            <a:endParaRPr sz="1100" b="1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13232" y="603504"/>
            <a:ext cx="10881360" cy="566928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AI 结对编程：你当主程，AI 当副驾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83112" cy="14630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6547104"/>
            <a:ext cx="822960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《人工智能在学习环境中的应用与实践》· 第3周 · Python速成（AI结对编程）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0515600" y="6547104"/>
            <a:ext cx="118872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06 / 15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1572768"/>
            <a:ext cx="914400" cy="56692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1</a:t>
            </a:r>
            <a:endParaRPr sz="20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417320" y="1572768"/>
            <a:ext cx="1755648" cy="566928"/>
          </a:xfrm>
          <a:prstGeom prst="roundRect">
            <a:avLst>
              <a:gd name="adj" fmla="val 6000"/>
            </a:avLst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自然语言描述需求</a:t>
            </a:r>
            <a:endParaRPr sz="12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2139696"/>
            <a:ext cx="267004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09728" bIns="54864" rtlCol="0" anchor="t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说清输入是什么、要什么输出、边界是什么（写进提示词）。</a:t>
            </a:r>
            <a:endParaRPr sz="12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3191256" y="1719072"/>
            <a:ext cx="146304" cy="256032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5848" y="1572768"/>
            <a:ext cx="914400" cy="56692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2</a:t>
            </a:r>
            <a:endParaRPr sz="20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270248" y="1572768"/>
            <a:ext cx="1755648" cy="566928"/>
          </a:xfrm>
          <a:prstGeom prst="roundRect">
            <a:avLst>
              <a:gd name="adj" fmla="val 6000"/>
            </a:avLst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AI 生成代码初稿</a:t>
            </a:r>
            <a:endParaRPr sz="12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355848" y="2139696"/>
            <a:ext cx="267004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09728" bIns="54864" rtlCol="0" anchor="t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让它一次给完整脚本，并附简短说明；不要东拼西凑。</a:t>
            </a:r>
            <a:endParaRPr sz="12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6044183" y="1719072"/>
            <a:ext cx="146304" cy="256032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08776" y="1572768"/>
            <a:ext cx="914400" cy="566928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3</a:t>
            </a:r>
            <a:endParaRPr sz="20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123176" y="1572768"/>
            <a:ext cx="1755648" cy="566928"/>
          </a:xfrm>
          <a:prstGeom prst="roundRect">
            <a:avLst>
              <a:gd name="adj" fmla="val 6000"/>
            </a:avLst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人工逐行读懂</a:t>
            </a:r>
            <a:endParaRPr sz="12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08776" y="2139696"/>
            <a:ext cx="267004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09728" bIns="54864" rtlCol="0" anchor="t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每一行都要能用中文复述它在做什么——读不懂就追问AI或删掉。</a:t>
            </a:r>
            <a:endParaRPr sz="12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8897112" y="1719072"/>
            <a:ext cx="146304" cy="256032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61704" y="1572768"/>
            <a:ext cx="914400" cy="566928"/>
          </a:xfrm>
          <a:prstGeom prst="rect">
            <a:avLst/>
          </a:prstGeom>
          <a:solidFill>
            <a:srgbClr val="538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4</a:t>
            </a:r>
            <a:endParaRPr sz="20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976104" y="1572768"/>
            <a:ext cx="1755648" cy="566928"/>
          </a:xfrm>
          <a:prstGeom prst="roundRect">
            <a:avLst>
              <a:gd name="adj" fmla="val 6000"/>
            </a:avLst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修改并验证</a:t>
            </a:r>
            <a:endParaRPr sz="12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061704" y="2139696"/>
            <a:ext cx="267004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09728" bIns="54864" rtlCol="0" anchor="t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改成你的场景（字段名/路径/输出），运行，看结果对不对。</a:t>
            </a:r>
            <a:endParaRPr sz="12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061704" y="3557016"/>
            <a:ext cx="2670048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Ins="109728" bIns="54864" rtlCol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↺ 不满意就回到第 1 步重来</a:t>
            </a:r>
            <a:endParaRPr sz="1150" b="1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02920" y="3977639"/>
            <a:ext cx="11183112" cy="566928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4864" rIns="109728" bIns="54864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DC3E6"/>
                </a:solidFill>
                <a:latin typeface="微软雅黑" panose="020B0503020204020204" charset="-122"/>
                <a:ea typeface="微软雅黑" panose="020B0503020204020204" charset="-122"/>
              </a:rPr>
              <a:t>这不是“让AI替你写”，而是“你主导、AI执笔”：</a:t>
            </a: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结课答辩时，别人问“这行为什么这样写”，你必须答得出来。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02920" y="4736592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1397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纪律 1 · 不粘贴自己读不懂的代码</a:t>
            </a:r>
            <a:endParaRPr sz="1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读不懂＝没资格提交；要么问AI解释，要么删掉重写。</a:t>
            </a:r>
            <a:endParaRPr sz="12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325112" y="4736592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FFF2CC"/>
          </a:solidFill>
          <a:ln w="1397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BF8F00"/>
                </a:solidFill>
                <a:latin typeface="微软雅黑" panose="020B0503020204020204" charset="-122"/>
                <a:ea typeface="微软雅黑" panose="020B0503020204020204" charset="-122"/>
              </a:rPr>
              <a:t>纪律 2 · 先猜输出，再运行</a:t>
            </a:r>
            <a:endParaRPr sz="1400" b="1">
              <a:solidFill>
                <a:srgbClr val="BF8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培养直觉；猜错了才是有效学习，比蒙对更值钱。</a:t>
            </a:r>
            <a:endParaRPr sz="12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147304" y="4736592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1397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纪律 3 · 报错先自己读 30 秒</a:t>
            </a:r>
            <a:endParaRPr sz="1400" b="1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Traceback 已经告诉你答案的位置，先读再问。</a:t>
            </a:r>
            <a:endParaRPr sz="12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347472"/>
            <a:ext cx="1088136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承 · 调试第一课</a:t>
            </a:r>
            <a:endParaRPr sz="1100" b="1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13232" y="603504"/>
            <a:ext cx="10881360" cy="566928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报错不是灾难，是 Python 在给你指路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83112" cy="14630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6547104"/>
            <a:ext cx="822960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《人工智能在学习环境中的应用与实践》· 第3周 · Python速成（AI结对编程）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0515600" y="6547104"/>
            <a:ext cx="118872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07 / 15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035040" cy="3063240"/>
          </a:xfrm>
          <a:prstGeom prst="roundRect">
            <a:avLst>
              <a:gd name="adj" fmla="val 6000"/>
            </a:avLst>
          </a:prstGeom>
          <a:solidFill>
            <a:srgbClr val="1E2430"/>
          </a:solidFill>
          <a:ln w="12700">
            <a:solidFill>
              <a:srgbClr val="3A44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6035040" cy="310896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AA8BC"/>
                </a:solidFill>
                <a:latin typeface="Consolas" panose="020B0609020204030204"/>
                <a:ea typeface="微软雅黑" panose="020B0503020204020204" charset="-122"/>
              </a:rPr>
              <a:t>报错长什么样</a:t>
            </a:r>
            <a:endParaRPr sz="1100" b="1">
              <a:solidFill>
                <a:srgbClr val="9AA8BC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1865376"/>
            <a:ext cx="6035040" cy="2752344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54864" rtlCol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0D58A"/>
                </a:solidFill>
                <a:latin typeface="Consolas" panose="020B0609020204030204"/>
                <a:ea typeface="微软雅黑" panose="020B0503020204020204" charset="-122"/>
              </a:rPr>
              <a:t>Traceback (most recent call last):</a:t>
            </a:r>
            <a:endParaRPr sz="1200" b="0">
              <a:solidFill>
                <a:srgbClr val="F0D58A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  File "vocab_tool.py", line 40, in &lt;module&gt;</a:t>
            </a:r>
            <a:endParaRPr sz="1200" b="0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    lv4 = filter_by_level(words, "4")</a:t>
            </a:r>
            <a:endParaRPr sz="1200" b="0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  File "vocab_tool.py", line 19, in filter_by_level</a:t>
            </a:r>
            <a:endParaRPr sz="1200" b="0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    return [w for w in words if w["HSK等级"] == level]</a:t>
            </a:r>
            <a:endParaRPr sz="1200" b="0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0D58A"/>
                </a:solidFill>
                <a:latin typeface="Consolas" panose="020B0609020204030204"/>
                <a:ea typeface="微软雅黑" panose="020B0503020204020204" charset="-122"/>
              </a:rPr>
              <a:t>KeyError: 'HSK等级'</a:t>
            </a:r>
            <a:endParaRPr sz="1400" b="1">
              <a:solidFill>
                <a:srgbClr val="F0D58A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812280" y="1627632"/>
            <a:ext cx="4873752" cy="77724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09728" bIns="54864" rtlCol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① 先看最后一行</a:t>
            </a:r>
            <a:endParaRPr sz="13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错误类型 + 原因。KeyError＝字典里没有这个键。</a:t>
            </a:r>
            <a:endParaRPr sz="115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812280" y="2496312"/>
            <a:ext cx="4873752" cy="77724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09728" bIns="54864" rtlCol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② 中间是调用链</a:t>
            </a:r>
            <a:endParaRPr sz="13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谁调用了谁，当你代码多了尤其有用。</a:t>
            </a:r>
            <a:endParaRPr sz="115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812280" y="3364991"/>
            <a:ext cx="4873752" cy="77724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09728" bIns="54864" rtlCol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③ 定位自己的文件行号</a:t>
            </a:r>
            <a:endParaRPr sz="13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File "...vocab_tool.py", line 19 —— 从下往上找你自己的第一个行号。</a:t>
            </a:r>
            <a:endParaRPr sz="115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812280" y="4279392"/>
            <a:ext cx="4873752" cy="822960"/>
          </a:xfrm>
          <a:prstGeom prst="roundRect">
            <a:avLst>
              <a:gd name="adj" fmla="val 6000"/>
            </a:avLst>
          </a:prstGeom>
          <a:solidFill>
            <a:srgbClr val="E2F0D9"/>
          </a:solidFill>
          <a:ln w="12700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09728" bIns="54864" rtlCol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38135"/>
                </a:solidFill>
                <a:latin typeface="微软雅黑" panose="020B0503020204020204" charset="-122"/>
                <a:ea typeface="微软雅黑" panose="020B0503020204020204" charset="-122"/>
              </a:rPr>
              <a:t>这次怎么修？</a:t>
            </a:r>
            <a:endParaRPr sz="1300" b="1">
              <a:solidFill>
                <a:srgbClr val="53813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CSV 表头不叫“HSK等级”（比如写成“等级”）→ 统一字段名即可。</a:t>
            </a:r>
            <a:endParaRPr sz="12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4800600"/>
          <a:ext cx="11183111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257031"/>
              </a:tblGrid>
              <a:tr h="4724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本周高频报错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含义与常见原因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00000"/>
                          </a:solidFill>
                          <a:latin typeface="微软雅黑" panose="020B0503020204020204" charset="-122"/>
                        </a:rPr>
                        <a:t>FileNotFoundError</a:t>
                      </a:r>
                      <a:endParaRPr sz="1200" b="1">
                        <a:solidFill>
                          <a:srgbClr val="C00000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  <a:latin typeface="微软雅黑" panose="020B0503020204020204" charset="-122"/>
                        </a:rPr>
                        <a:t>文件路径不对 / 运行目录不对 → 用 weekpath 统一解析，别写死相对路径。</a:t>
                      </a:r>
                      <a:endParaRPr sz="1200" b="0">
                        <a:solidFill>
                          <a:srgbClr val="404040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00000"/>
                          </a:solidFill>
                          <a:latin typeface="微软雅黑" panose="020B0503020204020204" charset="-122"/>
                        </a:rPr>
                        <a:t>UnicodeDecodeError</a:t>
                      </a:r>
                      <a:endParaRPr sz="1200" b="1">
                        <a:solidFill>
                          <a:srgbClr val="C00000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404040"/>
                          </a:solidFill>
                          <a:latin typeface="微软雅黑" panose="020B0503020204020204" charset="-122"/>
                        </a:rPr>
                        <a:t>Windows 默认 GBK 编码 → 读写文件一律写 encoding="utf-8"。</a:t>
                      </a:r>
                      <a:endParaRPr sz="1200" b="0">
                        <a:solidFill>
                          <a:srgbClr val="404040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3657600" cy="109728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9DC3E6"/>
                </a:solidFill>
                <a:latin typeface="Arial" panose="020B0604020202020204"/>
                <a:ea typeface="微软雅黑" panose="020B0503020204020204" charset="-122"/>
              </a:rPr>
              <a:t>Part 2</a:t>
            </a:r>
            <a:endParaRPr sz="4000" b="1">
              <a:solidFill>
                <a:srgbClr val="9DC3E6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22960" y="2788920"/>
            <a:ext cx="10515600" cy="91440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学时 2（45′）：生词表 CSV 处理实战</a:t>
            </a:r>
            <a:endParaRPr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68680" y="3886200"/>
            <a:ext cx="10058400" cy="7315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t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DC3E6"/>
                </a:solidFill>
                <a:latin typeface="微软雅黑" panose="020B0503020204020204" charset="-122"/>
                <a:ea typeface="微软雅黑" panose="020B0503020204020204" charset="-122"/>
              </a:rPr>
              <a:t>读 CSV → 按等级筛选 → 统计词性 → 输出练习题文件</a:t>
            </a:r>
            <a:endParaRPr sz="1500" b="0">
              <a:solidFill>
                <a:srgbClr val="9DC3E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68680" y="4892040"/>
            <a:ext cx="10058400" cy="640080"/>
          </a:xfrm>
          <a:prstGeom prst="roundRect">
            <a:avLst>
              <a:gd name="adj" fmla="val 6000"/>
            </a:avLst>
          </a:prstGeom>
          <a:solidFill>
            <a:srgbClr val="2A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09728" bIns="54864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产出：vocab_tool.py + 练习.txt + AI 辅助编程实录.md（全部 push 进仓库）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6547104"/>
            <a:ext cx="822960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《人工智能在学习环境中的应用与实践》· 第3周 · Python速成（AI结对编程）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515600" y="6547104"/>
            <a:ext cx="118872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08 / 15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347472"/>
            <a:ext cx="1088136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合 · 任务拆解</a:t>
            </a:r>
            <a:endParaRPr sz="1100" b="1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13232" y="603504"/>
            <a:ext cx="10881360" cy="566928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今天要做的：生词表 CSV → 自动出练习题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83112" cy="14630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6547104"/>
            <a:ext cx="822960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《人工智能在学习环境中的应用与实践》· 第3周 · Python速成（AI结对编程）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0515600" y="6547104"/>
            <a:ext cx="118872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09 / 15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572768"/>
            <a:ext cx="3429000" cy="1188720"/>
          </a:xfrm>
          <a:prstGeom prst="roundRect">
            <a:avLst>
              <a:gd name="adj" fmla="val 6000"/>
            </a:avLst>
          </a:prstGeom>
          <a:solidFill>
            <a:srgbClr val="E9EDF3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09728" bIns="54864" rtlCol="0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输入 data/生词表.csv</a:t>
            </a:r>
            <a:endParaRPr sz="1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一份标准表格：词汇,HSK等级,词性,释义,备注</a:t>
            </a:r>
            <a:endParaRPr sz="115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3922776" y="1956816"/>
            <a:ext cx="365760" cy="384048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79976" y="1572768"/>
            <a:ext cx="3429000" cy="118872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1524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09728" bIns="54864" rtlCol="0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处理 vocab_tool.py</a:t>
            </a:r>
            <a:endParaRPr sz="1400" b="1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读 → 筛 → 统 → 写，四步各一个函数</a:t>
            </a:r>
            <a:endParaRPr sz="115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7799832" y="1956816"/>
            <a:ext cx="365760" cy="384048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57032" y="1572768"/>
            <a:ext cx="3429000" cy="1188720"/>
          </a:xfrm>
          <a:prstGeom prst="roundRect">
            <a:avLst>
              <a:gd name="adj" fmla="val 6000"/>
            </a:avLst>
          </a:prstGeom>
          <a:solidFill>
            <a:srgbClr val="E2F0D9"/>
          </a:solidFill>
          <a:ln w="15240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09728" bIns="54864" rtlCol="0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538135"/>
                </a:solidFill>
                <a:latin typeface="微软雅黑" panose="020B0503020204020204" charset="-122"/>
                <a:ea typeface="微软雅黑" panose="020B0503020204020204" charset="-122"/>
              </a:rPr>
              <a:t>输出 练习.txt</a:t>
            </a:r>
            <a:endParaRPr sz="1400" b="1">
              <a:solidFill>
                <a:srgbClr val="53813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每行一道造句题：用“坚持”造一个句子。（动词）</a:t>
            </a:r>
            <a:endParaRPr sz="115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2920" y="2926080"/>
            <a:ext cx="54864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Ins="109728" bIns="54864" rtlCol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样例数据（代码包 data/生词表.csv）</a:t>
            </a:r>
            <a:endParaRPr sz="13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58368" y="3401568"/>
          <a:ext cx="5175504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914400"/>
                <a:gridCol w="1975104"/>
              </a:tblGrid>
              <a:tr h="32004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词汇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HSK等级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词性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释义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04040"/>
                          </a:solidFill>
                          <a:latin typeface="微软雅黑" panose="020B0503020204020204" charset="-122"/>
                        </a:rPr>
                        <a:t>坚持</a:t>
                      </a:r>
                      <a:endParaRPr sz="1150" b="0">
                        <a:solidFill>
                          <a:srgbClr val="404040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0404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sz="1150" b="0">
                        <a:solidFill>
                          <a:srgbClr val="404040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04040"/>
                          </a:solidFill>
                          <a:latin typeface="微软雅黑" panose="020B0503020204020204" charset="-122"/>
                        </a:rPr>
                        <a:t>动词</a:t>
                      </a:r>
                      <a:endParaRPr sz="1150" b="0">
                        <a:solidFill>
                          <a:srgbClr val="404040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04040"/>
                          </a:solidFill>
                          <a:latin typeface="微软雅黑" panose="020B0503020204020204" charset="-122"/>
                        </a:rPr>
                        <a:t>坚决保持不放弃</a:t>
                      </a:r>
                      <a:endParaRPr sz="1150" b="0">
                        <a:solidFill>
                          <a:srgbClr val="404040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04040"/>
                          </a:solidFill>
                          <a:latin typeface="微软雅黑" panose="020B0503020204020204" charset="-122"/>
                        </a:rPr>
                        <a:t>商量</a:t>
                      </a:r>
                      <a:endParaRPr sz="1150" b="0">
                        <a:solidFill>
                          <a:srgbClr val="404040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0404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sz="1150" b="0">
                        <a:solidFill>
                          <a:srgbClr val="404040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04040"/>
                          </a:solidFill>
                          <a:latin typeface="微软雅黑" panose="020B0503020204020204" charset="-122"/>
                        </a:rPr>
                        <a:t>动词</a:t>
                      </a:r>
                      <a:endParaRPr sz="1150" b="0">
                        <a:solidFill>
                          <a:srgbClr val="404040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04040"/>
                          </a:solidFill>
                          <a:latin typeface="微软雅黑" panose="020B0503020204020204" charset="-122"/>
                        </a:rPr>
                        <a:t>交换意见</a:t>
                      </a:r>
                      <a:endParaRPr sz="1150" b="0">
                        <a:solidFill>
                          <a:srgbClr val="404040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04040"/>
                          </a:solidFill>
                          <a:latin typeface="微软雅黑" panose="020B0503020204020204" charset="-122"/>
                        </a:rPr>
                        <a:t>愚公移山</a:t>
                      </a:r>
                      <a:endParaRPr sz="1150" b="0">
                        <a:solidFill>
                          <a:srgbClr val="404040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0404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sz="1150" b="0">
                        <a:solidFill>
                          <a:srgbClr val="404040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04040"/>
                          </a:solidFill>
                          <a:latin typeface="微软雅黑" panose="020B0503020204020204" charset="-122"/>
                        </a:rPr>
                        <a:t>成语</a:t>
                      </a:r>
                      <a:endParaRPr sz="1150" b="0">
                        <a:solidFill>
                          <a:srgbClr val="404040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04040"/>
                          </a:solidFill>
                          <a:latin typeface="微软雅黑" panose="020B0503020204020204" charset="-122"/>
                        </a:rPr>
                        <a:t>比喻做事有毅力</a:t>
                      </a:r>
                      <a:endParaRPr sz="1150" b="0">
                        <a:solidFill>
                          <a:srgbClr val="404040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DEEB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04040"/>
                          </a:solidFill>
                          <a:latin typeface="微软雅黑" panose="020B0503020204020204" charset="-122"/>
                        </a:rPr>
                        <a:t>叩石垦壤</a:t>
                      </a:r>
                      <a:endParaRPr sz="1150" b="0">
                        <a:solidFill>
                          <a:srgbClr val="404040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04040"/>
                          </a:solidFill>
                          <a:latin typeface="微软雅黑" panose="020B0503020204020204" charset="-122"/>
                        </a:rPr>
                        <a:t>6</a:t>
                      </a:r>
                      <a:endParaRPr sz="1150" b="0">
                        <a:solidFill>
                          <a:srgbClr val="404040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04040"/>
                          </a:solidFill>
                          <a:latin typeface="微软雅黑" panose="020B0503020204020204" charset="-122"/>
                        </a:rPr>
                        <a:t>动词短语</a:t>
                      </a:r>
                      <a:endParaRPr sz="1150" b="0">
                        <a:solidFill>
                          <a:srgbClr val="404040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404040"/>
                          </a:solidFill>
                          <a:latin typeface="微软雅黑" panose="020B0503020204020204" charset="-122"/>
                        </a:rPr>
                        <a:t>凿石头挖泥土</a:t>
                      </a:r>
                      <a:endParaRPr sz="1150" b="0">
                        <a:solidFill>
                          <a:srgbClr val="404040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263640" y="2926080"/>
            <a:ext cx="5422392" cy="2148840"/>
          </a:xfrm>
          <a:prstGeom prst="roundRect">
            <a:avLst>
              <a:gd name="adj" fmla="val 60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09728" bIns="54864" rtlCol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7FB3E8"/>
                </a:solidFill>
                <a:latin typeface="微软雅黑" panose="020B0503020204020204" charset="-122"/>
                <a:ea typeface="微软雅黑" panose="020B0503020204020204" charset="-122"/>
              </a:rPr>
              <a:t>预期输出 · 终端与练习.txt</a:t>
            </a:r>
            <a:endParaRPr sz="1250" b="1">
              <a:solidFill>
                <a:srgbClr val="7FB3E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$ python vocab_tool.py</a:t>
            </a:r>
            <a:endParaRPr sz="1200" b="0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总词汇 14 个，其中 HSK4 词汇 4 个，</a:t>
            </a:r>
            <a:endParaRPr sz="1150" b="0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词性分布：{'动词': 3, '名词': 1}</a:t>
            </a:r>
            <a:endParaRPr sz="1150" b="0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A9D18C"/>
                </a:solidFill>
                <a:latin typeface="Consolas" panose="020B0609020204030204"/>
                <a:ea typeface="微软雅黑" panose="020B0503020204020204" charset="-122"/>
              </a:rPr>
              <a:t>已生成：../练习.txt</a:t>
            </a:r>
            <a:endParaRPr sz="1150" b="0">
              <a:solidFill>
                <a:srgbClr val="A9D18C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F0D58A"/>
                </a:solidFill>
                <a:latin typeface="Consolas" panose="020B0609020204030204"/>
                <a:ea typeface="微软雅黑" panose="020B0503020204020204" charset="-122"/>
              </a:rPr>
              <a:t>练习.txt 内容：</a:t>
            </a:r>
            <a:endParaRPr sz="1150" b="1">
              <a:solidFill>
                <a:srgbClr val="F0D58A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用“商量”造一个句子。（动词）</a:t>
            </a:r>
            <a:endParaRPr sz="1150" b="0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用“坚持”造一个句子。（动词）</a:t>
            </a:r>
            <a:endParaRPr sz="1150" b="0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5257800"/>
            <a:ext cx="11183112" cy="658368"/>
          </a:xfrm>
          <a:prstGeom prst="roundRect">
            <a:avLst>
              <a:gd name="adj" fmla="val 6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4864" rIns="109728" bIns="54864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F8F00"/>
                </a:solidFill>
                <a:latin typeface="微软雅黑" panose="020B0503020204020204" charset="-122"/>
                <a:ea typeface="微软雅黑" panose="020B0503020204020204" charset="-122"/>
              </a:rPr>
              <a:t>关键认知：</a:t>
            </a:r>
            <a:r>
              <a:rPr sz="13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csv.DictReader 会把每一行读成一个字典，表头就是键名——所以 CSV 表头叫什么，代码里就要写什么（KeyError 的第一大来源）。</a:t>
            </a:r>
            <a:endParaRPr sz="13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6007608"/>
            <a:ext cx="11183112" cy="41148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Ins="109728" bIns="54864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B 轨同学：</a:t>
            </a: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把 CSV 换成自己学科的材料即可（英语单词表/数学知识点清单/历史事件年表…），四步流程完全同构。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347472"/>
            <a:ext cx="1088136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合 · 核心脚本</a:t>
            </a:r>
            <a:endParaRPr sz="1100" b="1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13232" y="603504"/>
            <a:ext cx="10881360" cy="566928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逐行读懂 vocab_tool.py：四个函数各管一件事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83112" cy="14630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6547104"/>
            <a:ext cx="822960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《人工智能在学习环境中的应用与实践》· 第3周 · Python速成（AI结对编程）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0515600" y="6547104"/>
            <a:ext cx="118872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10 / 15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388110"/>
            <a:ext cx="6423660" cy="4749165"/>
          </a:xfrm>
          <a:prstGeom prst="roundRect">
            <a:avLst>
              <a:gd name="adj" fmla="val 6000"/>
            </a:avLst>
          </a:prstGeom>
          <a:solidFill>
            <a:srgbClr val="1E2430"/>
          </a:solidFill>
          <a:ln w="12700">
            <a:solidFill>
              <a:srgbClr val="3A44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36192"/>
            <a:ext cx="6400800" cy="310896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AA8BC"/>
                </a:solidFill>
                <a:latin typeface="Consolas" panose="020B0609020204030204"/>
                <a:ea typeface="微软雅黑" panose="020B0503020204020204" charset="-122"/>
              </a:rPr>
              <a:t>week03_Python/vocab_tool.py</a:t>
            </a:r>
            <a:endParaRPr sz="1100" b="1">
              <a:solidFill>
                <a:srgbClr val="9AA8BC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1847088"/>
            <a:ext cx="6400800" cy="4261104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54864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A9D18C"/>
                </a:solidFill>
                <a:latin typeface="Consolas" panose="020B0609020204030204"/>
                <a:ea typeface="微软雅黑" panose="020B0503020204020204" charset="-122"/>
              </a:rPr>
              <a:t>import csv, weekpath   # weekpath：统一解析 data/ 路径</a:t>
            </a:r>
            <a:endParaRPr sz="1200" b="0">
              <a:solidFill>
                <a:srgbClr val="A9D18C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DATA = weekpath.data_path("生词表.csv")</a:t>
            </a:r>
            <a:endParaRPr sz="1200" b="0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7FB3E8"/>
                </a:solidFill>
                <a:latin typeface="Consolas" panose="020B0609020204030204"/>
                <a:ea typeface="微软雅黑" panose="020B0503020204020204" charset="-122"/>
              </a:rPr>
              <a:t>def load_words(path=DATA):          # ① 读</a:t>
            </a:r>
            <a:endParaRPr sz="1250" b="1">
              <a:solidFill>
                <a:srgbClr val="7FB3E8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    with open(path, encoding="utf-8") as f:</a:t>
            </a:r>
            <a:endParaRPr sz="1200" b="0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        return list(csv.DictReader(f))</a:t>
            </a:r>
            <a:endParaRPr sz="1200" b="0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7FB3E8"/>
                </a:solidFill>
                <a:latin typeface="Consolas" panose="020B0609020204030204"/>
                <a:ea typeface="微软雅黑" panose="020B0503020204020204" charset="-122"/>
              </a:rPr>
              <a:t>def filter_by_level(words, level="4"):  # ② 筛</a:t>
            </a:r>
            <a:endParaRPr sz="1250" b="1">
              <a:solidFill>
                <a:srgbClr val="7FB3E8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    return [w for w in words</a:t>
            </a:r>
            <a:endParaRPr sz="1200" b="0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            if str(w["HSK等级"]) == str(level)]</a:t>
            </a:r>
            <a:endParaRPr sz="1200" b="0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7FB3E8"/>
                </a:solidFill>
                <a:latin typeface="Consolas" panose="020B0609020204030204"/>
                <a:ea typeface="微软雅黑" panose="020B0503020204020204" charset="-122"/>
              </a:rPr>
              <a:t>def count_by_pos(words):            # ③ 统</a:t>
            </a:r>
            <a:endParaRPr sz="1250" b="1">
              <a:solidFill>
                <a:srgbClr val="7FB3E8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    d = {}</a:t>
            </a:r>
            <a:endParaRPr sz="1200" b="0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    for w in words:</a:t>
            </a:r>
            <a:endParaRPr sz="1200" b="0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        d[w["词性"]] = d.get(w["词性"], 0) + 1</a:t>
            </a:r>
            <a:endParaRPr sz="1200" b="0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    return d</a:t>
            </a:r>
            <a:endParaRPr sz="1200" b="0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7FB3E8"/>
                </a:solidFill>
                <a:latin typeface="Consolas" panose="020B0609020204030204"/>
                <a:ea typeface="微软雅黑" panose="020B0503020204020204" charset="-122"/>
              </a:rPr>
              <a:t>def gen_exercises(words, out=None):  # ④ 写</a:t>
            </a:r>
            <a:endParaRPr sz="1250" b="1">
              <a:solidFill>
                <a:srgbClr val="7FB3E8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    out = out or weekpath.root_path("练习.txt")</a:t>
            </a:r>
            <a:endParaRPr sz="1200" b="0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    with open(out, "w", encoding="utf-8") as f:</a:t>
            </a:r>
            <a:endParaRPr sz="1200" b="0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        for w in words:</a:t>
            </a:r>
            <a:endParaRPr sz="1200" b="0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            f.write("用“%s”造一个句子。（%s）\n"</a:t>
            </a:r>
            <a:endParaRPr sz="1150" b="0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                     % (w["词汇"], w["词性"]))</a:t>
            </a:r>
            <a:endParaRPr sz="1150" b="0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178040" y="1627632"/>
            <a:ext cx="4507992" cy="841248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09728" bIns="54864" rtlCol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① 读　with open(...)</a:t>
            </a:r>
            <a:endParaRPr sz="12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with 用完自动关文件；encoding="utf-8" 必须写，否则 Windows 上乱码。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178040" y="2560320"/>
            <a:ext cx="4507992" cy="841248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09728" bIns="54864" rtlCol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② 筛　列表推导式</a:t>
            </a:r>
            <a:endParaRPr sz="12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一行顶三行：[结果 for 变量 in 列表 if 条件]；str() 包一层防类型不一致。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178040" y="3493008"/>
            <a:ext cx="4507992" cy="841248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09728" bIns="54864" rtlCol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③ 统　dict.get(k,0)+1</a:t>
            </a:r>
            <a:endParaRPr sz="12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计数套路：取不到就当 0，读到就 +1——词频统计通用写法。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178040" y="4425696"/>
            <a:ext cx="4507992" cy="841248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95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09728" bIns="54864" rtlCol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④ 写　产物路径</a:t>
            </a:r>
            <a:endParaRPr sz="12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统一落到代码包根目录，否则“从哪个目录运行”决定文件落哪。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178040" y="5358384"/>
            <a:ext cx="4507992" cy="749808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09728" bIns="54864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运行：python vocab_tool.py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DC3E6"/>
                </a:solidFill>
                <a:latin typeface="微软雅黑" panose="020B0503020204020204" charset="-122"/>
                <a:ea typeface="微软雅黑" panose="020B0503020204020204" charset="-122"/>
              </a:rPr>
              <a:t>（Windows 上若是 py -3 vocab_tool.py）</a:t>
            </a:r>
            <a:endParaRPr sz="1150" b="0">
              <a:solidFill>
                <a:srgbClr val="9DC3E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6144768"/>
            <a:ext cx="6400800" cy="365760"/>
          </a:xfrm>
          <a:prstGeom prst="roundRect">
            <a:avLst>
              <a:gd name="adj" fmla="val 6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09728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F8F00"/>
                </a:solidFill>
                <a:latin typeface="微软雅黑" panose="020B0503020204020204" charset="-122"/>
                <a:ea typeface="微软雅黑" panose="020B0503020204020204" charset="-122"/>
              </a:rPr>
              <a:t>注：脚本开头的 weekpath 三行是路径约定——照抄即可，保证从任何目录运行都找得到 data/。</a:t>
            </a:r>
            <a:endParaRPr sz="1100" b="0">
              <a:solidFill>
                <a:srgbClr val="BF8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347472"/>
            <a:ext cx="1088136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合 · 两种写法</a:t>
            </a:r>
            <a:endParaRPr sz="1100" b="1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13232" y="603504"/>
            <a:ext cx="10881360" cy="566928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手写骨架 vs AI 辅助：都要有，且要记录差异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83112" cy="14630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6547104"/>
            <a:ext cx="822960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《人工智能在学习环境中的应用与实践》· 第3周 · Python速成（AI结对编程）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0515600" y="6547104"/>
            <a:ext cx="118872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11 / 15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572768"/>
            <a:ext cx="5440680" cy="457200"/>
          </a:xfrm>
          <a:prstGeom prst="roundRect">
            <a:avLst>
              <a:gd name="adj" fmla="val 6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09728" bIns="54864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写法 A · 手写骨架（课堂跟练，10′）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2029968"/>
            <a:ext cx="5440680" cy="2331720"/>
          </a:xfrm>
          <a:prstGeom prst="roundRect">
            <a:avLst>
              <a:gd name="adj" fmla="val 6000"/>
            </a:avLst>
          </a:prstGeom>
          <a:solidFill>
            <a:srgbClr val="1E2430"/>
          </a:solidFill>
          <a:ln w="12700">
            <a:solidFill>
              <a:srgbClr val="3A44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2029968"/>
            <a:ext cx="5440680" cy="23317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54864" rtlCol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import csv</a:t>
            </a:r>
            <a:endParaRPr sz="1200" b="0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with open("data/生词表.csv",</a:t>
            </a:r>
            <a:endParaRPr sz="1200" b="0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          encoding="utf-8") as f:</a:t>
            </a:r>
            <a:endParaRPr sz="1200" b="0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    words = list(csv.DictReader(f))</a:t>
            </a:r>
            <a:endParaRPr sz="1200" b="0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lv4 = [w for w in words</a:t>
            </a:r>
            <a:endParaRPr sz="1200" b="0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        if w["HSK等级"] == "4"]</a:t>
            </a:r>
            <a:endParaRPr sz="1200" b="0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FB3E8"/>
                </a:solidFill>
                <a:latin typeface="Consolas" panose="020B0609020204030204"/>
                <a:ea typeface="微软雅黑" panose="020B0503020204020204" charset="-122"/>
              </a:rPr>
              <a:t>print("HSK4：", len(lv4), "个")</a:t>
            </a:r>
            <a:endParaRPr sz="1200" b="0">
              <a:solidFill>
                <a:srgbClr val="7FB3E8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4361688"/>
            <a:ext cx="5440680" cy="77724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09728" bIns="54864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先手写一遍的意义：你知道每一行在干什么，AI 写错时你才抓得住。</a:t>
            </a:r>
            <a:endParaRPr sz="1200" b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45352" y="1572768"/>
            <a:ext cx="5440680" cy="457200"/>
          </a:xfrm>
          <a:prstGeom prst="roundRect">
            <a:avLst>
              <a:gd name="adj" fmla="val 6000"/>
            </a:avLst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09728" bIns="54864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写法 B · AI 辅助生成（学员实操，20′）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45352" y="2029968"/>
            <a:ext cx="5440680" cy="2331720"/>
          </a:xfrm>
          <a:prstGeom prst="roundRect">
            <a:avLst>
              <a:gd name="adj" fmla="val 6000"/>
            </a:avLst>
          </a:prstGeom>
          <a:solidFill>
            <a:srgbClr val="1E2430"/>
          </a:solidFill>
          <a:ln w="12700">
            <a:solidFill>
              <a:srgbClr val="3A44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45352" y="2029968"/>
            <a:ext cx="5440680" cy="23317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54864" rtlCol="0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A9D18C"/>
                </a:solidFill>
                <a:latin typeface="Consolas" panose="020B0609020204030204"/>
                <a:ea typeface="微软雅黑" panose="020B0503020204020204" charset="-122"/>
              </a:rPr>
              <a:t># 你的提示词示例（四件套再用一次）</a:t>
            </a:r>
            <a:endParaRPr sz="1150" b="0">
              <a:solidFill>
                <a:srgbClr val="A9D18C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角色：你是Python教学助手</a:t>
            </a:r>
            <a:endParaRPr sz="1150" b="0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任务：写脚本读生词表CSV并生成练习题</a:t>
            </a:r>
            <a:endParaRPr sz="1150" b="0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要求：按HSK等级筛选、统计词性分布、</a:t>
            </a:r>
            <a:endParaRPr sz="1150" b="0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     输出txt，仅用标准库，每行加注释</a:t>
            </a:r>
            <a:endParaRPr sz="1150" b="0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示例：期望输出 用“坚持”造一个句子。（动词）</a:t>
            </a:r>
            <a:endParaRPr sz="1150" b="0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45352" y="4361688"/>
            <a:ext cx="5440680" cy="777240"/>
          </a:xfrm>
          <a:prstGeom prst="roundRect">
            <a:avLst>
              <a:gd name="adj" fmla="val 6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09728" bIns="54864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BF8F00"/>
                </a:solidFill>
                <a:latin typeface="微软雅黑" panose="020B0503020204020204" charset="-122"/>
                <a:ea typeface="微软雅黑" panose="020B0503020204020204" charset="-122"/>
              </a:rPr>
              <a:t>AI 常给的“超纲版”：argparse、try/except、多文件拆分——先读懂再决定要不要用。</a:t>
            </a:r>
            <a:endParaRPr sz="1200" b="0">
              <a:solidFill>
                <a:srgbClr val="BF8F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5285232"/>
            <a:ext cx="11183112" cy="960120"/>
          </a:xfrm>
          <a:prstGeom prst="roundRect">
            <a:avLst>
              <a:gd name="adj" fmla="val 6000"/>
            </a:avLst>
          </a:prstGeom>
          <a:solidFill>
            <a:srgbClr val="E2F0D9"/>
          </a:solidFill>
          <a:ln w="12700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109728" bIns="54864" rtlCol="0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538135"/>
                </a:solidFill>
                <a:latin typeface="微软雅黑" panose="020B0503020204020204" charset="-122"/>
                <a:ea typeface="微软雅黑" panose="020B0503020204020204" charset="-122"/>
              </a:rPr>
              <a:t>两种写法都别丢：把 AI 初版与你的最终版都粘进《AI 辅助编程实录》，写出 3 条以上“我改了什么、为什么”。</a:t>
            </a:r>
            <a:endParaRPr sz="1400" b="1">
              <a:solidFill>
                <a:srgbClr val="53813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提示词工程没白学：本周你会发现——同样让 AI 写脚本，写清“输入/输出/约束/示例”的人，一次性拿到能跑的代码；写得含糊的人拿到一堆报错。</a:t>
            </a:r>
            <a:endParaRPr sz="125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347472"/>
            <a:ext cx="1088136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合 · 过程留痕</a:t>
            </a:r>
            <a:endParaRPr sz="1100" b="1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13232" y="603504"/>
            <a:ext cx="10881360" cy="566928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AI 辅助编程实录：本周最重要的过程性考核材料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83112" cy="14630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6547104"/>
            <a:ext cx="822960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《人工智能在学习环境中的应用与实践》· 第3周 · Python速成（AI结对编程）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0515600" y="6547104"/>
            <a:ext cx="118872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12 / 15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583680" cy="4480560"/>
          </a:xfrm>
          <a:prstGeom prst="roundRect">
            <a:avLst>
              <a:gd name="adj" fmla="val 6000"/>
            </a:avLst>
          </a:prstGeom>
          <a:solidFill>
            <a:srgbClr val="1E2430"/>
          </a:solidFill>
          <a:ln w="12700">
            <a:solidFill>
              <a:srgbClr val="3A44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6583680" cy="310896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AA8BC"/>
                </a:solidFill>
                <a:latin typeface="Consolas" panose="020B0609020204030204"/>
                <a:ea typeface="微软雅黑" panose="020B0503020204020204" charset="-122"/>
              </a:rPr>
              <a:t>AI辅助编程实录.md</a:t>
            </a:r>
            <a:endParaRPr sz="1100" b="1">
              <a:solidFill>
                <a:srgbClr val="9AA8BC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1865376"/>
            <a:ext cx="6583680" cy="4169664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54864" rtlCol="0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7FB3E8"/>
                </a:solidFill>
                <a:latin typeface="微软雅黑" panose="020B0503020204020204" charset="-122"/>
                <a:ea typeface="微软雅黑" panose="020B0503020204020204" charset="-122"/>
              </a:rPr>
              <a:t>## 1. 任务与提示词</a:t>
            </a:r>
            <a:endParaRPr sz="1300" b="1">
              <a:solidFill>
                <a:srgbClr val="7FB3E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8EDF5"/>
                </a:solidFill>
                <a:latin typeface="微软雅黑" panose="020B0503020204020204" charset="-122"/>
                <a:ea typeface="微软雅黑" panose="020B0503020204020204" charset="-122"/>
              </a:rPr>
              <a:t>要做什么：读生词表CSV→筛HSK4→造练习题</a:t>
            </a:r>
            <a:endParaRPr sz="1200" b="0">
              <a:solidFill>
                <a:srgbClr val="E8EDF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8EDF5"/>
                </a:solidFill>
                <a:latin typeface="微软雅黑" panose="020B0503020204020204" charset="-122"/>
                <a:ea typeface="微软雅黑" panose="020B0503020204020204" charset="-122"/>
              </a:rPr>
              <a:t>我写的提示词：（把完整提示词粘在这里）</a:t>
            </a:r>
            <a:endParaRPr sz="1200" b="0">
              <a:solidFill>
                <a:srgbClr val="E8EDF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7FB3E8"/>
                </a:solidFill>
                <a:latin typeface="微软雅黑" panose="020B0503020204020204" charset="-122"/>
                <a:ea typeface="微软雅黑" panose="020B0503020204020204" charset="-122"/>
              </a:rPr>
              <a:t>## 2. AI 初版代码</a:t>
            </a:r>
            <a:endParaRPr sz="1300" b="1">
              <a:solidFill>
                <a:srgbClr val="7FB3E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8EDF5"/>
                </a:solidFill>
                <a:latin typeface="微软雅黑" panose="020B0503020204020204" charset="-122"/>
                <a:ea typeface="微软雅黑" panose="020B0503020204020204" charset="-122"/>
              </a:rPr>
              <a:t>（粘贴 AI 第一次给出的完整代码）</a:t>
            </a:r>
            <a:endParaRPr sz="1200" b="0">
              <a:solidFill>
                <a:srgbClr val="E8EDF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7FB3E8"/>
                </a:solidFill>
                <a:latin typeface="微软雅黑" panose="020B0503020204020204" charset="-122"/>
                <a:ea typeface="微软雅黑" panose="020B0503020204020204" charset="-122"/>
              </a:rPr>
              <a:t>## 3. 我的修改点（≥3 条）</a:t>
            </a:r>
            <a:endParaRPr sz="1300" b="1">
              <a:solidFill>
                <a:srgbClr val="7FB3E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8EDF5"/>
                </a:solidFill>
                <a:latin typeface="微软雅黑" panose="020B0503020204020204" charset="-122"/>
                <a:ea typeface="微软雅黑" panose="020B0503020204020204" charset="-122"/>
              </a:rPr>
              <a:t>① 字段名改成我 CSV 里的“HSK等级”</a:t>
            </a:r>
            <a:endParaRPr sz="1200" b="0">
              <a:solidFill>
                <a:srgbClr val="E8EDF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8EDF5"/>
                </a:solidFill>
                <a:latin typeface="微软雅黑" panose="020B0503020204020204" charset="-122"/>
                <a:ea typeface="微软雅黑" panose="020B0503020204020204" charset="-122"/>
              </a:rPr>
              <a:t>② 加上 encoding="utf-8"，解决中文乱码</a:t>
            </a:r>
            <a:endParaRPr sz="1200" b="0">
              <a:solidFill>
                <a:srgbClr val="E8EDF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8EDF5"/>
                </a:solidFill>
                <a:latin typeface="微软雅黑" panose="020B0503020204020204" charset="-122"/>
                <a:ea typeface="微软雅黑" panose="020B0503020204020204" charset="-122"/>
              </a:rPr>
              <a:t>③ 产物路径统一到代码包根目录</a:t>
            </a:r>
            <a:endParaRPr sz="1200" b="0">
              <a:solidFill>
                <a:srgbClr val="E8EDF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7FB3E8"/>
                </a:solidFill>
                <a:latin typeface="微软雅黑" panose="020B0503020204020204" charset="-122"/>
                <a:ea typeface="微软雅黑" panose="020B0503020204020204" charset="-122"/>
              </a:rPr>
              <a:t>## 4. 最终版 vs 初版差异说明</a:t>
            </a:r>
            <a:endParaRPr sz="1300" b="1">
              <a:solidFill>
                <a:srgbClr val="7FB3E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E8EDF5"/>
                </a:solidFill>
                <a:latin typeface="微软雅黑" panose="020B0503020204020204" charset="-122"/>
                <a:ea typeface="微软雅黑" panose="020B0503020204020204" charset="-122"/>
              </a:rPr>
              <a:t>（说清楚：AI 哪里想多了、哪里漏了、</a:t>
            </a:r>
            <a:endParaRPr sz="1200" b="0">
              <a:solidFill>
                <a:srgbClr val="E8EDF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8EDF5"/>
                </a:solidFill>
                <a:latin typeface="微软雅黑" panose="020B0503020204020204" charset="-122"/>
                <a:ea typeface="微软雅黑" panose="020B0503020204020204" charset="-122"/>
              </a:rPr>
              <a:t> 你为什么这么改，一句话一条）</a:t>
            </a:r>
            <a:endParaRPr sz="1200" b="0">
              <a:solidFill>
                <a:srgbClr val="E8ED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60920" y="1627632"/>
            <a:ext cx="432511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为什么必须写实录？</a:t>
            </a:r>
            <a:endParaRPr sz="13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它证明代码是你“读懂后改过的”，不是抄的——也是 W16 结课报告中 AI 使用披露的第一手素材。</a:t>
            </a:r>
            <a:endParaRPr sz="115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360920" y="3090672"/>
            <a:ext cx="432511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什么算合格？</a:t>
            </a:r>
            <a:endParaRPr sz="13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四段齐全 + 修改点 ≥3 条 + 每条写清“为什么”，不是只写“改了个变量名”。</a:t>
            </a:r>
            <a:endParaRPr sz="115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360920" y="4553712"/>
            <a:ext cx="4325112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常见糊弄写法</a:t>
            </a:r>
            <a:endParaRPr sz="13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只贴最终代码、不贴提示词；修改点写“优化了代码”——这类一律退回补写。</a:t>
            </a:r>
            <a:endParaRPr sz="115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360920" y="6053328"/>
            <a:ext cx="4325112" cy="420624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09728" bIns="54864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文件名建议：AI辅助编程实录.md（放 ai-portfolio 根目录）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347472"/>
            <a:ext cx="1088136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合 · 资产入库</a:t>
            </a:r>
            <a:endParaRPr sz="1100" b="1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13232" y="603504"/>
            <a:ext cx="10881360" cy="566928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Git 三连（复习）：把本周脚本与实录推上去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83112" cy="14630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6547104"/>
            <a:ext cx="822960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《人工智能在学习环境中的应用与实践》· 第3周 · Python速成（AI结对编程）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0515600" y="6547104"/>
            <a:ext cx="118872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13 / 15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572768"/>
            <a:ext cx="5943600" cy="2377440"/>
          </a:xfrm>
          <a:prstGeom prst="roundRect">
            <a:avLst>
              <a:gd name="adj" fmla="val 6000"/>
            </a:avLst>
          </a:prstGeom>
          <a:solidFill>
            <a:srgbClr val="1E2430"/>
          </a:solidFill>
          <a:ln w="12700">
            <a:solidFill>
              <a:srgbClr val="3A44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72768"/>
            <a:ext cx="5943600" cy="310896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AA8BC"/>
                </a:solidFill>
                <a:latin typeface="Consolas" panose="020B0609020204030204"/>
                <a:ea typeface="微软雅黑" panose="020B0503020204020204" charset="-122"/>
              </a:rPr>
              <a:t>在 ai-portfolio 目录下执行</a:t>
            </a:r>
            <a:endParaRPr sz="1100" b="1">
              <a:solidFill>
                <a:srgbClr val="9AA8BC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1883664"/>
            <a:ext cx="5943600" cy="2066544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bIns="54864" rtlCol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&gt; git add .</a:t>
            </a:r>
            <a:endParaRPr sz="1500" b="1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A9D18C"/>
                </a:solidFill>
                <a:latin typeface="Consolas" panose="020B0609020204030204"/>
                <a:ea typeface="微软雅黑" panose="020B0503020204020204" charset="-122"/>
              </a:rPr>
              <a:t># 暂存：把新脚本、练习.txt、实录打包</a:t>
            </a:r>
            <a:endParaRPr sz="1200" b="0">
              <a:solidFill>
                <a:srgbClr val="A9D18C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&gt; git commit -m "W3: vocab_tool.py 生词表处理"</a:t>
            </a:r>
            <a:endParaRPr sz="1450" b="1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A9D18C"/>
                </a:solidFill>
                <a:latin typeface="Consolas" panose="020B0609020204030204"/>
                <a:ea typeface="微软雅黑" panose="020B0503020204020204" charset="-122"/>
              </a:rPr>
              <a:t># 提交：写清这包货是什么（拒绝 update）</a:t>
            </a:r>
            <a:endParaRPr sz="1200" b="0">
              <a:solidFill>
                <a:srgbClr val="A9D18C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E8EDF5"/>
                </a:solidFill>
                <a:latin typeface="Consolas" panose="020B0609020204030204"/>
                <a:ea typeface="微软雅黑" panose="020B0503020204020204" charset="-122"/>
              </a:rPr>
              <a:t>&gt; git push origin main</a:t>
            </a:r>
            <a:endParaRPr sz="1500" b="1">
              <a:solidFill>
                <a:srgbClr val="E8EDF5"/>
              </a:solidFill>
              <a:latin typeface="Consolas" panose="020B0609020204030204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9D18C"/>
                </a:solidFill>
                <a:latin typeface="Consolas" panose="020B0609020204030204"/>
                <a:ea typeface="微软雅黑" panose="020B0503020204020204" charset="-122"/>
              </a:rPr>
              <a:t># 推送：GitHub 永久保存＝过程性考核证据</a:t>
            </a:r>
            <a:endParaRPr sz="1200" b="0">
              <a:solidFill>
                <a:srgbClr val="A9D18C"/>
              </a:solidFill>
              <a:latin typeface="Consolas" panose="020B0609020204030204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720840" y="1645920"/>
            <a:ext cx="4965192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本周要提交哪些文件？</a:t>
            </a:r>
            <a:endParaRPr sz="13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vocab_tool.py、AI辅助编程实录.md、练习.txt（如不想留产物，把它写进 .gitignore）。</a:t>
            </a:r>
            <a:endParaRPr sz="115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720840" y="3017520"/>
            <a:ext cx="4965192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三行 path 代码不必懂透</a:t>
            </a:r>
            <a:endParaRPr sz="13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照抄即可；下阶段讲模块与路径原理，现在先保证脚本能从任意目录运行。</a:t>
            </a:r>
            <a:endParaRPr sz="115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720840" y="4389120"/>
            <a:ext cx="4965192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练习.txt 要不要提交？</a:t>
            </a:r>
            <a:endParaRPr sz="13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作为“脚本跑通”的证据建议提交一次；之后的生成产物可加进 .gitignore 忽略。</a:t>
            </a:r>
            <a:endParaRPr sz="115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2920" y="4133087"/>
            <a:ext cx="5943600" cy="1371600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09728" bIns="54864" rtlCol="0" anchor="t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本周红线</a:t>
            </a:r>
            <a:endParaRPr sz="1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① 本周不用任何密钥——下周第4周才引入 API；</a:t>
            </a:r>
            <a:endParaRPr sz="12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② 绝不 paste 读不懂的代码进仓库（＝给自己埋雷）；</a:t>
            </a:r>
            <a:endParaRPr sz="12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③ 提交前 git status 看一眼，别把 .env 密钥文件带上。</a:t>
            </a:r>
            <a:endParaRPr sz="12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" y="5669280"/>
            <a:ext cx="11183112" cy="621792"/>
          </a:xfrm>
          <a:prstGeom prst="roundRect">
            <a:avLst>
              <a:gd name="adj" fmla="val 6000"/>
            </a:avLst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4864" rIns="109728" bIns="54864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38135"/>
                </a:solidFill>
                <a:latin typeface="微软雅黑" panose="020B0503020204020204" charset="-122"/>
                <a:ea typeface="微软雅黑" panose="020B0503020204020204" charset="-122"/>
              </a:rPr>
              <a:t>验证：</a:t>
            </a:r>
            <a:r>
              <a:rPr sz="13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git log --oneline 能看到本周提交；GitHub 网页端能看到 vocab_tool.py 与实录文件——看到＝交付完成。</a:t>
            </a:r>
            <a:endParaRPr sz="13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347472"/>
            <a:ext cx="1088136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产出导向 · 课后延伸</a:t>
            </a:r>
            <a:endParaRPr sz="1100" b="1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13232" y="603504"/>
            <a:ext cx="10881360" cy="566928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本周作业（下周四前完成，全部 push 到仓库）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83112" cy="14630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6547104"/>
            <a:ext cx="822960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《人工智能在学习环境中的应用与实践》· 第3周 · Python速成（AI结对编程）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0515600" y="6547104"/>
            <a:ext cx="118872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14 / 15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1183112" cy="731520"/>
          </a:xfrm>
          <a:prstGeom prst="roundRect">
            <a:avLst>
              <a:gd name="adj" fmla="val 6000"/>
            </a:avLst>
          </a:prstGeom>
          <a:solidFill>
            <a:srgbClr val="E2F0D9"/>
          </a:solidFill>
          <a:ln w="15240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4864" rIns="109728" bIns="54864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38135"/>
                </a:solidFill>
                <a:latin typeface="微软雅黑" panose="020B0503020204020204" charset="-122"/>
                <a:ea typeface="微软雅黑" panose="020B0503020204020204" charset="-122"/>
              </a:rPr>
              <a:t>课堂内已交付：</a:t>
            </a:r>
            <a:r>
              <a:rPr sz="1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vocab_tool.py 可运行并输出练习.txt + 实录已写完一份初稿（下课前验收）。</a:t>
            </a:r>
            <a:endParaRPr sz="1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2450592"/>
            <a:ext cx="11183112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450592"/>
            <a:ext cx="1234440" cy="1143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作业 1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737360" y="2523744"/>
            <a:ext cx="9875520" cy="100584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109728" bIns="54864" rtlCol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官方 Python 教程相关章节（约2h）</a:t>
            </a:r>
            <a:endParaRPr sz="13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精读 Python 官方教程（中文版）：列表、字典、文件读写三节；把学到的 1 个写法用到 vocab_tool.py 上，并在实录里补记第 4 条修改点。</a:t>
            </a:r>
            <a:endParaRPr sz="12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" y="3749039"/>
            <a:ext cx="11183112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749039"/>
            <a:ext cx="1234440" cy="1143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作业 2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737360" y="3822191"/>
            <a:ext cx="9875520" cy="100584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109728" bIns="54864" rtlCol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给脚本扩展 1 个功能（约2h）</a:t>
            </a:r>
            <a:endParaRPr sz="13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二选一或都做：① 按词性分组输出；② 生成填空题（把句子中的目标词挖空成 ____）。注意：先让 AI 写，再自己读懂并改。</a:t>
            </a:r>
            <a:endParaRPr sz="12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" y="5047488"/>
            <a:ext cx="11183112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5047488"/>
            <a:ext cx="1234440" cy="1143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作业 3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737360" y="5120640"/>
            <a:ext cx="9875520" cy="100584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109728" bIns="54864" rtlCol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语法要点复习（约1h）</a:t>
            </a:r>
            <a:endParaRPr sz="135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用间隔复习巩固本周 4 个语法点（推荐 Anki 或手写卡片：正面写“列表推导式”，背面写代码模板），下周课前抽查 3 张。</a:t>
            </a:r>
            <a:endParaRPr sz="12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2920" y="6172200"/>
            <a:ext cx="11183112" cy="36576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Ins="109728" bIns="54864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提交方式：</a:t>
            </a: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全部 push 到 ai-portfolio，以 GitHub 提交记录为考核证据。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347472"/>
            <a:ext cx="1088136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离场前 5 分钟</a:t>
            </a:r>
            <a:endParaRPr sz="1100" b="1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13232" y="603504"/>
            <a:ext cx="10881360" cy="566928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验收 Checklist：逐项打钩，再离开教室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83112" cy="14630"/>
          </a:xfrm>
          <a:prstGeom prst="rect">
            <a:avLst/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6547104"/>
            <a:ext cx="822960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《人工智能在学习环境中的应用与实践》· 第3周 · Python速成（AI结对编程）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0515600" y="6547104"/>
            <a:ext cx="1188720" cy="27432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8A8A8A"/>
                </a:solidFill>
                <a:latin typeface="微软雅黑" panose="020B0503020204020204" charset="-122"/>
                <a:ea typeface="微软雅黑" panose="020B0503020204020204" charset="-122"/>
              </a:rPr>
              <a:t>15 / 15</a:t>
            </a:r>
            <a:endParaRPr sz="900" b="0">
              <a:solidFill>
                <a:srgbClr val="8A8A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572768"/>
            <a:ext cx="6766560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46304" rIns="109728" bIns="54864" rtlCol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538135"/>
                </a:solidFill>
                <a:latin typeface="微软雅黑" panose="020B0503020204020204" charset="-122"/>
                <a:ea typeface="微软雅黑" panose="020B0503020204020204" charset="-122"/>
              </a:rPr>
              <a:t>☐ 今天离场验收单</a:t>
            </a:r>
            <a:endParaRPr sz="1600" b="1">
              <a:solidFill>
                <a:srgbClr val="53813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☐  vocab_tool.py 能独立运行：python vocab_tool.py 有输出、不报错</a:t>
            </a:r>
            <a:endParaRPr sz="13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☐  生成的 练习.txt 内容正确（至少包含筛选后目标等级的生词造句题）</a:t>
            </a:r>
            <a:endParaRPr sz="13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☐  能说清四个函数分别干什么：读 / 筛 / 统 / 写</a:t>
            </a:r>
            <a:endParaRPr sz="13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☐  AI辅助编程实录.md 四段齐全，修改点 ≥3 条且写明了为什么</a:t>
            </a:r>
            <a:endParaRPr sz="13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☐  git log 可见本周提交，GitHub 网页端能看到脚本与实录</a:t>
            </a:r>
            <a:endParaRPr sz="13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☐  已记下作业：官方教程选读 / 扩展1个功能 / 语法卡片复习</a:t>
            </a:r>
            <a:endParaRPr sz="1300" b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498079" y="1572768"/>
            <a:ext cx="4187952" cy="2240280"/>
          </a:xfrm>
          <a:prstGeom prst="roundRect">
            <a:avLst>
              <a:gd name="adj" fmla="val 6000"/>
            </a:avLst>
          </a:prstGeom>
          <a:solidFill>
            <a:srgbClr val="DEEBF7"/>
          </a:solidFill>
          <a:ln w="1524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109728" bIns="54864" rtlCol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下周预告 · 第4周</a:t>
            </a:r>
            <a:endParaRPr sz="1500" b="1">
              <a:solidFill>
                <a:srgbClr val="2E74B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第一次 API 调用：把 AI 装进你的程序</a:t>
            </a:r>
            <a:endParaRPr sz="15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API Key 安全、参数体验、命令行学科问答机器人。产出：week4_api_bot.py（实验1）。</a:t>
            </a:r>
            <a:endParaRPr sz="125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498079" y="3977639"/>
            <a:ext cx="4187952" cy="1298448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54864" rIns="109728" bIns="54864" rtlCol="0" anchor="ctr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本周你会第一次体会到：脚本不是替工具打工，是替你打工——第4周起，让它替你调用真正的 AI。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5440680"/>
            <a:ext cx="1118311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4864" rIns="109728" bIns="54864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E74B5"/>
                </a:solidFill>
                <a:latin typeface="微软雅黑" panose="020B0503020204020204" charset="-122"/>
                <a:ea typeface="微软雅黑" panose="020B0503020204020204" charset="-122"/>
              </a:rPr>
              <a:t>本周一句话：</a:t>
            </a:r>
            <a:r>
              <a:rPr sz="1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AI 可以替你写代码，但你要能讲清楚每一行——不粘贴自己读不懂的代码。</a:t>
            </a:r>
            <a:endParaRPr sz="1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7321</Words>
  <Application>WPS 演示</Application>
  <PresentationFormat>On-screen Show (4:3)</PresentationFormat>
  <Paragraphs>493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第3周 Python速成（AI结对编程模式）</dc:title>
  <dc:creator>教学课件</dc:creator>
  <dc:description>generated using python-pptx</dc:description>
  <cp:lastModifiedBy>Yu Dongxing</cp:lastModifiedBy>
  <cp:revision>4</cp:revision>
  <dcterms:created xsi:type="dcterms:W3CDTF">2013-01-27T09:14:00Z</dcterms:created>
  <dcterms:modified xsi:type="dcterms:W3CDTF">2026-09-27T12:43:11Z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137E8D19A6A74D239284A197725692AE_12</vt:lpwstr>
  </property>
  <property fmtid="{D5CDD505-2E9C-101B-9397-08002B2CF9AE}" pid="3" name="KSOProductBuildVer">
    <vt:lpwstr>2052-12.1.0.28505</vt:lpwstr>
  </property>
</Properties>
</file>